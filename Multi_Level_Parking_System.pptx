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51052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7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KLH · BACHUPALLY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321040" y="6510528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7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BASED LEARNING · PSPJ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rgbClr val="7A76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rgbClr val="7A76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ultra_detailed_evening_blue_hou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0B1519">
              <a:alpha val="93000"/>
            </a:srgbClr>
          </a:solidFill>
          <a:ln w="12700">
            <a:solidFill>
              <a:srgbClr val="0B1519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675120" y="0"/>
            <a:ext cx="1828800" cy="6858000"/>
          </a:xfrm>
          <a:prstGeom prst="rect">
            <a:avLst/>
          </a:prstGeom>
          <a:solidFill>
            <a:srgbClr val="0B1519">
              <a:alpha val="38000"/>
            </a:srgbClr>
          </a:solidFill>
          <a:ln w="12700">
            <a:solidFill>
              <a:srgbClr val="0B1519">
                <a:alpha val="0"/>
              </a:srgbClr>
            </a:solidFill>
            <a:prstDash val="solid"/>
          </a:ln>
        </p:spPr>
      </p:sp>
      <p:pic>
        <p:nvPicPr>
          <p:cNvPr id="5" name="Image 1" descr="/mnt/data/current_slide1_images/img_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66" y="411480"/>
            <a:ext cx="836547" cy="62179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1335024"/>
            <a:ext cx="2514600" cy="310896"/>
          </a:xfrm>
          <a:prstGeom prst="roundRect">
            <a:avLst/>
          </a:prstGeom>
          <a:solidFill>
            <a:srgbClr val="A74F3D"/>
          </a:solidFill>
          <a:ln w="12700">
            <a:solidFill>
              <a:srgbClr val="A74F3D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76072" y="138988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BASED LEARNING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02920" y="1847088"/>
            <a:ext cx="5532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MULTI-LEVEL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PARKING SYSTEM</a:t>
            </a:r>
            <a:endParaRPr lang="en-US" sz="3500" dirty="0"/>
          </a:p>
        </p:txBody>
      </p:sp>
      <p:sp>
        <p:nvSpPr>
          <p:cNvPr id="9" name="Text 5"/>
          <p:cNvSpPr/>
          <p:nvPr/>
        </p:nvSpPr>
        <p:spPr>
          <a:xfrm>
            <a:off x="530352" y="3364992"/>
            <a:ext cx="5166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8E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compact Java prototype that manages 3 floors × 5 slots, allocates the first free space, searches vehicles and keeps a simple text-file log.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30352" y="4407408"/>
            <a:ext cx="1600200" cy="640080"/>
          </a:xfrm>
          <a:prstGeom prst="roundRect">
            <a:avLst/>
          </a:prstGeom>
          <a:solidFill>
            <a:srgbClr val="1F5D50"/>
          </a:solidFill>
          <a:ln w="12700">
            <a:solidFill>
              <a:srgbClr val="1F5D5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67512" y="456285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143000" y="456285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2267712" y="4407408"/>
            <a:ext cx="1600200" cy="640080"/>
          </a:xfrm>
          <a:prstGeom prst="round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404872" y="456285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2880360" y="456285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005072" y="4407408"/>
            <a:ext cx="2011680" cy="640080"/>
          </a:xfrm>
          <a:prstGeom prst="roundRect">
            <a:avLst/>
          </a:prstGeom>
          <a:solidFill>
            <a:srgbClr val="A74F3D"/>
          </a:solidFill>
          <a:ln w="12700">
            <a:solidFill>
              <a:srgbClr val="A74F3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142232" y="456285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617720" y="456285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ACTIONS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30352" y="537667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defTabSz="1325880">
              <a:buNone/>
              <a:tabLst>
                <a:tab pos="1325880" algn="l"/>
              </a:tabLst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 DIVYA TEJA	·  2620030005</a:t>
            </a:r>
            <a:endParaRPr lang="en-US" sz="1300" dirty="0"/>
          </a:p>
          <a:p>
            <a:pPr indent="0" marL="0" defTabSz="1325880">
              <a:buNone/>
              <a:tabLst>
                <a:tab pos="1325880" algn="l"/>
              </a:tabLst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YOGENDRA	·  2620040044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30352" y="599846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5D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 ·  Mr. G Balaiah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9784080" y="63642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OCT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108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A74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PROJECT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38912" y="585216"/>
            <a:ext cx="8961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1051560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parking problem, the student-scale prototype, and what the current code actually does.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444752"/>
            <a:ext cx="5623560" cy="4462272"/>
          </a:xfrm>
          <a:prstGeom prst="roundRect">
            <a:avLst>
              <a:gd name="adj" fmla="val 2459"/>
            </a:avLst>
          </a:prstGeom>
          <a:solidFill>
            <a:srgbClr val="FFFDFC"/>
          </a:solidFill>
          <a:ln w="12700">
            <a:solidFill>
              <a:srgbClr val="D9D4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7190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126"/>
                </a:solidFill>
              </a:rPr>
              <a:t>Why this project matters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4088" y="2139696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52126"/>
                </a:solidFill>
              </a:rPr>
              <a:t>In busy buildings, parking becomes harder when drivers cannot quickly identify free spaces and staff must track vehicles manually.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13232" y="3108960"/>
            <a:ext cx="347472" cy="347472"/>
          </a:xfrm>
          <a:prstGeom prst="ellipse">
            <a:avLst/>
          </a:prstGeom>
          <a:solidFill>
            <a:srgbClr val="1F5D50"/>
          </a:solidFill>
          <a:ln w="12700">
            <a:solidFill>
              <a:srgbClr val="1F5D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3182112"/>
            <a:ext cx="347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61288" y="3118104"/>
            <a:ext cx="2606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126"/>
                </a:solidFill>
              </a:rPr>
              <a:t>Tracks 3 floors × 5 slots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0" y="31089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176"/>
                </a:solidFill>
              </a:rPr>
              <a:t>A 2D array represents the parking layout.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3232" y="3840480"/>
            <a:ext cx="347472" cy="347472"/>
          </a:xfrm>
          <a:prstGeom prst="ellipse">
            <a:avLst/>
          </a:prstGeom>
          <a:solidFill>
            <a:srgbClr val="1F5D50"/>
          </a:solidFill>
          <a:ln w="12700">
            <a:solidFill>
              <a:srgbClr val="1F5D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913632"/>
            <a:ext cx="347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61288" y="3849624"/>
            <a:ext cx="2606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126"/>
                </a:solidFill>
              </a:rPr>
              <a:t>Assigns the first free slot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0" y="38404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176"/>
                </a:solidFill>
              </a:rPr>
              <a:t>The program checks the grid floor by floor.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3232" y="4571999"/>
            <a:ext cx="347472" cy="347472"/>
          </a:xfrm>
          <a:prstGeom prst="ellipse">
            <a:avLst/>
          </a:prstGeom>
          <a:solidFill>
            <a:srgbClr val="1F5D50"/>
          </a:solidFill>
          <a:ln w="12700">
            <a:solidFill>
              <a:srgbClr val="1F5D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645151"/>
            <a:ext cx="347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61288" y="4581143"/>
            <a:ext cx="2606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126"/>
                </a:solidFill>
              </a:rPr>
              <a:t>Searches and removes vehicles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0" y="4571999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176"/>
                </a:solidFill>
              </a:rPr>
              <a:t>A plate number can be located or cleared.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13232" y="5303520"/>
            <a:ext cx="347472" cy="347472"/>
          </a:xfrm>
          <a:prstGeom prst="ellipse">
            <a:avLst/>
          </a:prstGeom>
          <a:solidFill>
            <a:srgbClr val="1F5D50"/>
          </a:solidFill>
          <a:ln w="12700">
            <a:solidFill>
              <a:srgbClr val="1F5D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5376672"/>
            <a:ext cx="347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61288" y="5312664"/>
            <a:ext cx="2606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126"/>
                </a:solidFill>
              </a:rPr>
              <a:t>Keeps a simple entry log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0" y="53035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176"/>
                </a:solidFill>
              </a:rPr>
              <a:t>FileWriter appends parked vehicles to a text file.</a:t>
            </a:r>
            <a:endParaRPr lang="en-US" sz="1250" dirty="0"/>
          </a:p>
        </p:txBody>
      </p:sp>
      <p:pic>
        <p:nvPicPr>
          <p:cNvPr id="24" name="Image 0" descr="/mnt/data/a_crisp_realistic_high_resolution_photograph_of.png">    </p:cNvPr>
          <p:cNvPicPr>
            <a:picLocks noChangeAspect="1"/>
          </p:cNvPicPr>
          <p:nvPr/>
        </p:nvPicPr>
        <p:blipFill>
          <a:blip r:embed="rId1"/>
          <a:srcRect l="0" r="0" t="9999" b="9999"/>
          <a:stretch/>
        </p:blipFill>
        <p:spPr>
          <a:xfrm>
            <a:off x="6327648" y="1444752"/>
            <a:ext cx="5422392" cy="2441448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6327648" y="4069080"/>
            <a:ext cx="5422392" cy="1837944"/>
          </a:xfrm>
          <a:prstGeom prst="roundRect">
            <a:avLst>
              <a:gd name="adj" fmla="val 5970"/>
            </a:avLst>
          </a:prstGeom>
          <a:solidFill>
            <a:srgbClr val="EEF3F0"/>
          </a:solidFill>
          <a:ln w="12700">
            <a:solidFill>
              <a:srgbClr val="D8E6D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83680" y="42245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F5D50"/>
                </a:solidFill>
              </a:rPr>
              <a:t>CURRENT PROTOTYPE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565392" y="4553712"/>
            <a:ext cx="1252728" cy="310896"/>
          </a:xfrm>
          <a:prstGeom prst="roundRect">
            <a:avLst/>
          </a:prstGeom>
          <a:solidFill>
            <a:srgbClr val="1F5D50"/>
          </a:solidFill>
          <a:ln w="12700">
            <a:solidFill>
              <a:srgbClr val="1F5D5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38544" y="4608576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955280" y="4553712"/>
            <a:ext cx="1252728" cy="310896"/>
          </a:xfrm>
          <a:prstGeom prst="roundRect">
            <a:avLst/>
          </a:prstGeom>
          <a:solidFill>
            <a:srgbClr val="A74F3D"/>
          </a:solidFill>
          <a:ln w="12700">
            <a:solidFill>
              <a:srgbClr val="A74F3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28432" y="4608576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345168" y="4553712"/>
            <a:ext cx="1252728" cy="310896"/>
          </a:xfrm>
          <a:prstGeom prst="roundRect">
            <a:avLst/>
          </a:prstGeom>
          <a:solidFill>
            <a:srgbClr val="2A6F73"/>
          </a:solidFill>
          <a:ln w="12700">
            <a:solidFill>
              <a:srgbClr val="2A6F7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418320" y="4608576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565392" y="4937760"/>
            <a:ext cx="1252728" cy="310896"/>
          </a:xfrm>
          <a:prstGeom prst="round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638544" y="4992624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7955280" y="4937760"/>
            <a:ext cx="1252728" cy="310896"/>
          </a:xfrm>
          <a:prstGeom prst="round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028432" y="4992624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9345168" y="4937760"/>
            <a:ext cx="1252728" cy="310896"/>
          </a:xfrm>
          <a:prstGeom prst="roundRect">
            <a:avLst/>
          </a:prstGeom>
          <a:solidFill>
            <a:srgbClr val="192126"/>
          </a:solidFill>
          <a:ln w="12700">
            <a:solidFill>
              <a:srgbClr val="19212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418320" y="4992624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6565392" y="53400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176"/>
                </a:solidFill>
              </a:rPr>
              <a:t>Real systems may add sensors, barriers, payments and mobile booking. Those are future extensions—not features claimed by this console prototype.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438912" y="623620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presentation keeps the real-world idea and the actual Java implementation clearly separated.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39624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A76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108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A74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PROBLEM STATEMENT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38912" y="585216"/>
            <a:ext cx="8961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Parking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1051560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structured multi-floor system is useful before we even talk about code.</a:t>
            </a:r>
            <a:endParaRPr lang="en-US" sz="1300" dirty="0"/>
          </a:p>
        </p:txBody>
      </p:sp>
      <p:pic>
        <p:nvPicPr>
          <p:cNvPr id="5" name="Image 0" descr="/mnt/data/a_wide_realistic_daytime_scene_of_a_crowded_mall.png">    </p:cNvPr>
          <p:cNvPicPr>
            <a:picLocks noChangeAspect="1"/>
          </p:cNvPicPr>
          <p:nvPr/>
        </p:nvPicPr>
        <p:blipFill>
          <a:blip r:embed="rId1"/>
          <a:srcRect l="13901" r="13901" t="0" b="0"/>
          <a:stretch/>
        </p:blipFill>
        <p:spPr>
          <a:xfrm>
            <a:off x="438912" y="1444752"/>
            <a:ext cx="580644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5212080"/>
            <a:ext cx="1417320" cy="310896"/>
          </a:xfrm>
          <a:prstGeom prst="roundRect">
            <a:avLst/>
          </a:prstGeom>
          <a:solidFill>
            <a:srgbClr val="9E3F35"/>
          </a:solidFill>
          <a:ln w="12700">
            <a:solidFill>
              <a:srgbClr val="9E3F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" y="52669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TIME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249424" y="5212080"/>
            <a:ext cx="1325880" cy="310896"/>
          </a:xfrm>
          <a:prstGeom prst="round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22576" y="5266944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USE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749040" y="5212080"/>
            <a:ext cx="1261872" cy="310896"/>
          </a:xfrm>
          <a:prstGeom prst="roundRect">
            <a:avLst/>
          </a:prstGeom>
          <a:solidFill>
            <a:srgbClr val="1F5D50"/>
          </a:solidFill>
          <a:ln w="12700">
            <a:solidFill>
              <a:srgbClr val="1F5D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22192" y="526694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19672" y="1444752"/>
            <a:ext cx="5230368" cy="4526280"/>
          </a:xfrm>
          <a:prstGeom prst="roundRect">
            <a:avLst>
              <a:gd name="adj" fmla="val 2424"/>
            </a:avLst>
          </a:prstGeom>
          <a:solidFill>
            <a:srgbClr val="FFFDFC"/>
          </a:solidFill>
          <a:ln w="12700">
            <a:solidFill>
              <a:srgbClr val="D9D4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39712" y="17556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A74F3D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39712" y="2084832"/>
            <a:ext cx="44622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2126"/>
                </a:solidFill>
              </a:rPr>
              <a:t>Design a simple system that can track parking spaces across multiple levels, assign an available slot, locate a parked vehicle and free the slot when it exits.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858000" y="3438144"/>
            <a:ext cx="4343400" cy="0"/>
          </a:xfrm>
          <a:prstGeom prst="line">
            <a:avLst/>
          </a:prstGeom>
          <a:noFill/>
          <a:ln w="16510">
            <a:solidFill>
              <a:srgbClr val="D9D4C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39712" y="3675888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D50"/>
                </a:solidFill>
              </a:rPr>
              <a:t>DESIGN OBJECTIVE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858000" y="4078224"/>
            <a:ext cx="384048" cy="384048"/>
          </a:xfrm>
          <a:prstGeom prst="ellipse">
            <a:avLst/>
          </a:prstGeom>
          <a:solidFill>
            <a:srgbClr val="1F5D50"/>
          </a:solidFill>
          <a:ln w="12700">
            <a:solidFill>
              <a:srgbClr val="1F5D5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0" y="4151376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39712" y="4553712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126"/>
                </a:solidFill>
              </a:rPr>
              <a:t>Vehicle enters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296912" y="4270248"/>
            <a:ext cx="594360" cy="0"/>
          </a:xfrm>
          <a:prstGeom prst="line">
            <a:avLst/>
          </a:prstGeom>
          <a:noFill/>
          <a:ln w="25400">
            <a:solidFill>
              <a:srgbClr val="D99A2B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936992" y="4078224"/>
            <a:ext cx="384048" cy="384048"/>
          </a:xfrm>
          <a:prstGeom prst="ellipse">
            <a:avLst/>
          </a:prstGeom>
          <a:solidFill>
            <a:srgbClr val="1F5D50"/>
          </a:solidFill>
          <a:ln w="12700">
            <a:solidFill>
              <a:srgbClr val="1F5D5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36992" y="4151376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918704" y="4553712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126"/>
                </a:solidFill>
              </a:rPr>
              <a:t>Check first free slot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375904" y="4270248"/>
            <a:ext cx="594360" cy="0"/>
          </a:xfrm>
          <a:prstGeom prst="line">
            <a:avLst/>
          </a:prstGeom>
          <a:noFill/>
          <a:ln w="25400">
            <a:solidFill>
              <a:srgbClr val="D99A2B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9015984" y="4078224"/>
            <a:ext cx="384048" cy="384048"/>
          </a:xfrm>
          <a:prstGeom prst="ellipse">
            <a:avLst/>
          </a:prstGeom>
          <a:solidFill>
            <a:srgbClr val="1F5D50"/>
          </a:solidFill>
          <a:ln w="12700">
            <a:solidFill>
              <a:srgbClr val="1F5D5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015984" y="4151376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997696" y="4553712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126"/>
                </a:solidFill>
              </a:rPr>
              <a:t>Park / search / remove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9454896" y="4270248"/>
            <a:ext cx="594360" cy="0"/>
          </a:xfrm>
          <a:prstGeom prst="line">
            <a:avLst/>
          </a:prstGeom>
          <a:noFill/>
          <a:ln w="25400">
            <a:solidFill>
              <a:srgbClr val="D99A2B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10094976" y="4078224"/>
            <a:ext cx="384048" cy="384048"/>
          </a:xfrm>
          <a:prstGeom prst="ellipse">
            <a:avLst/>
          </a:prstGeom>
          <a:solidFill>
            <a:srgbClr val="A74F3D"/>
          </a:solidFill>
          <a:ln w="12700">
            <a:solidFill>
              <a:srgbClr val="A74F3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094976" y="4151376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0076688" y="4553712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126"/>
                </a:solidFill>
              </a:rPr>
              <a:t>Write entry log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839712" y="535838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176"/>
                </a:solidFill>
              </a:rPr>
              <a:t>Keep the solution easy to explain, test and demonstrate manually.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38912" y="623620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focuses on parking management logic—not on pretending the console program has physical sensors or barriers.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39624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A76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108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A74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CO1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38912" y="585216"/>
            <a:ext cx="8961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Real Problem to Program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1051560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CO1 translates the parking task into clear inputs, processing steps and outputs.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572768"/>
            <a:ext cx="3310128" cy="1938528"/>
          </a:xfrm>
          <a:prstGeom prst="roundRect">
            <a:avLst>
              <a:gd name="adj" fmla="val 5660"/>
            </a:avLst>
          </a:prstGeom>
          <a:solidFill>
            <a:srgbClr val="E8EFEA"/>
          </a:solidFill>
          <a:ln w="12700">
            <a:solidFill>
              <a:srgbClr val="D9D4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420624" cy="420624"/>
          </a:xfrm>
          <a:prstGeom prst="ellipse">
            <a:avLst/>
          </a:prstGeom>
          <a:solidFill>
            <a:srgbClr val="1F5D50"/>
          </a:solidFill>
          <a:ln w="12700">
            <a:solidFill>
              <a:srgbClr val="1F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56232"/>
            <a:ext cx="4206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70432" y="18105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52126"/>
                </a:solidFill>
              </a:rPr>
              <a:t>INPUT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4944" y="2377440"/>
            <a:ext cx="2798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126"/>
                </a:solidFill>
              </a:rPr>
              <a:t>Vehicle number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4944" y="2779776"/>
            <a:ext cx="2798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76"/>
                </a:solidFill>
              </a:rPr>
              <a:t>Menu choice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31920" y="1572768"/>
            <a:ext cx="3840480" cy="1938528"/>
          </a:xfrm>
          <a:prstGeom prst="roundRect">
            <a:avLst>
              <a:gd name="adj" fmla="val 5660"/>
            </a:avLst>
          </a:prstGeom>
          <a:solidFill>
            <a:srgbClr val="F6EACB"/>
          </a:solidFill>
          <a:ln w="12700">
            <a:solidFill>
              <a:srgbClr val="D9D4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33088" y="1783080"/>
            <a:ext cx="420624" cy="420624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33088" y="1856232"/>
            <a:ext cx="4206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18105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52126"/>
                </a:solidFill>
              </a:rPr>
              <a:t>PROCESS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87952" y="2377440"/>
            <a:ext cx="3328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126"/>
                </a:solidFill>
              </a:rPr>
              <a:t>Check slot status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87952" y="2779776"/>
            <a:ext cx="3328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76"/>
                </a:solidFill>
              </a:rPr>
              <a:t>Park · remove · search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55280" y="1572768"/>
            <a:ext cx="3794760" cy="1938528"/>
          </a:xfrm>
          <a:prstGeom prst="roundRect">
            <a:avLst>
              <a:gd name="adj" fmla="val 5660"/>
            </a:avLst>
          </a:prstGeom>
          <a:solidFill>
            <a:srgbClr val="F1E2DE"/>
          </a:solidFill>
          <a:ln w="12700">
            <a:solidFill>
              <a:srgbClr val="D9D4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56448" y="1783080"/>
            <a:ext cx="420624" cy="420624"/>
          </a:xfrm>
          <a:prstGeom prst="ellipse">
            <a:avLst/>
          </a:prstGeom>
          <a:solidFill>
            <a:srgbClr val="A74F3D"/>
          </a:solidFill>
          <a:ln w="12700">
            <a:solidFill>
              <a:srgbClr val="A74F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56448" y="1856232"/>
            <a:ext cx="4206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0" y="18105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52126"/>
                </a:solidFill>
              </a:rPr>
              <a:t>OUTPUT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11312" y="2377440"/>
            <a:ext cx="3282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126"/>
                </a:solidFill>
              </a:rPr>
              <a:t>Assigned floor + slot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11312" y="2779776"/>
            <a:ext cx="3282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76"/>
                </a:solidFill>
              </a:rPr>
              <a:t>Parking status / search result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730752" y="2560320"/>
            <a:ext cx="164592" cy="0"/>
          </a:xfrm>
          <a:prstGeom prst="line">
            <a:avLst/>
          </a:prstGeom>
          <a:noFill/>
          <a:ln w="30480">
            <a:solidFill>
              <a:srgbClr val="D99A2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790688" y="2560320"/>
            <a:ext cx="146304" cy="0"/>
          </a:xfrm>
          <a:prstGeom prst="line">
            <a:avLst/>
          </a:prstGeom>
          <a:noFill/>
          <a:ln w="30480">
            <a:solidFill>
              <a:srgbClr val="D99A2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38912" y="3794760"/>
            <a:ext cx="4617720" cy="2148840"/>
          </a:xfrm>
          <a:prstGeom prst="roundRect">
            <a:avLst>
              <a:gd name="adj" fmla="val 5106"/>
            </a:avLst>
          </a:prstGeom>
          <a:solidFill>
            <a:srgbClr val="FFFDFC"/>
          </a:solidFill>
          <a:ln w="12700">
            <a:solidFill>
              <a:srgbClr val="D9D4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" y="40873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126"/>
                </a:solidFill>
              </a:rPr>
              <a:t>What CO1 contributes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94944" y="4517136"/>
            <a:ext cx="3986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52126"/>
                </a:solidFill>
              </a:rPr>
              <a:t>The program starts with simple console input using Scanner. The user selects a menu option and enters a vehicle number; the program returns a clear result.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94944" y="553212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5D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Scanner sc = new Scanner(System.in);</a:t>
            </a:r>
            <a:endParaRPr lang="en-US" sz="1250" dirty="0"/>
          </a:p>
        </p:txBody>
      </p:sp>
      <p:pic>
        <p:nvPicPr>
          <p:cNvPr id="29" name="Image 0" descr="/mnt/data/enhanced_assets/console_entry.png">    </p:cNvPr>
          <p:cNvPicPr>
            <a:picLocks noChangeAspect="1"/>
          </p:cNvPicPr>
          <p:nvPr/>
        </p:nvPicPr>
        <p:blipFill>
          <a:blip r:embed="rId1"/>
          <a:srcRect l="0" r="0" t="19358" b="19358"/>
          <a:stretch/>
        </p:blipFill>
        <p:spPr>
          <a:xfrm>
            <a:off x="5321808" y="3794760"/>
            <a:ext cx="6428232" cy="214884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438912" y="623620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Demonstration: choose option 1, enter a plate number, and show the assigned floor and slot.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39624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A76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108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A74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CO2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38912" y="585216"/>
            <a:ext cx="8961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Flow: Decisions + Repetition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1051560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menu keeps running, the selected action is routed, and slot conditions are checked.</a:t>
            </a:r>
            <a:endParaRPr lang="en-US" sz="1300" dirty="0"/>
          </a:p>
        </p:txBody>
      </p:sp>
      <p:pic>
        <p:nvPicPr>
          <p:cNvPr id="5" name="Image 0" descr="/mnt/data/a_wide_realistic_high_resolution_photograph_of_a.png">    </p:cNvPr>
          <p:cNvPicPr>
            <a:picLocks noChangeAspect="1"/>
          </p:cNvPicPr>
          <p:nvPr/>
        </p:nvPicPr>
        <p:blipFill>
          <a:blip r:embed="rId1"/>
          <a:srcRect l="20155" r="20155" t="0" b="0"/>
          <a:stretch/>
        </p:blipFill>
        <p:spPr>
          <a:xfrm>
            <a:off x="438912" y="1444752"/>
            <a:ext cx="480060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0" y="1444752"/>
            <a:ext cx="6263640" cy="4526280"/>
          </a:xfrm>
          <a:prstGeom prst="roundRect">
            <a:avLst>
              <a:gd name="adj" fmla="val 2424"/>
            </a:avLst>
          </a:prstGeom>
          <a:solidFill>
            <a:srgbClr val="FFFDFC"/>
          </a:solidFill>
          <a:ln w="12700">
            <a:solidFill>
              <a:srgbClr val="D9D4C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15584" y="1737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126"/>
                </a:solidFill>
              </a:rPr>
              <a:t>One simple control-flow chain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797296" y="2157984"/>
            <a:ext cx="420624" cy="420624"/>
          </a:xfrm>
          <a:prstGeom prst="ellipse">
            <a:avLst/>
          </a:prstGeom>
          <a:solidFill>
            <a:srgbClr val="1F5D50"/>
          </a:solidFill>
          <a:ln w="12700">
            <a:solidFill>
              <a:srgbClr val="1F5D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97296" y="2231136"/>
            <a:ext cx="4206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64224" y="22677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126"/>
                </a:solidFill>
              </a:rPr>
              <a:t>WHILE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88352" y="2226564"/>
            <a:ext cx="3611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76"/>
                </a:solidFill>
              </a:rPr>
              <a:t>Keep showing the menu until choice = 6.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55080" y="2542032"/>
            <a:ext cx="4434840" cy="384048"/>
          </a:xfrm>
          <a:prstGeom prst="roundRect">
            <a:avLst/>
          </a:prstGeom>
          <a:solidFill>
            <a:srgbClr val="F6F4EF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10528" y="2624328"/>
            <a:ext cx="4096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F5D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(choice != 6)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6007608" y="2999232"/>
            <a:ext cx="0" cy="283464"/>
          </a:xfrm>
          <a:prstGeom prst="line">
            <a:avLst/>
          </a:prstGeom>
          <a:noFill/>
          <a:ln w="22860">
            <a:solidFill>
              <a:srgbClr val="D9D4C9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797296" y="3328416"/>
            <a:ext cx="420624" cy="420624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97296" y="3401568"/>
            <a:ext cx="4206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64224" y="34381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126"/>
                </a:solidFill>
              </a:rPr>
              <a:t>SWITCH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88352" y="3396996"/>
            <a:ext cx="3611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76"/>
                </a:solidFill>
              </a:rPr>
              <a:t>Send each menu number to the correct action.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355080" y="3712464"/>
            <a:ext cx="4434840" cy="384048"/>
          </a:xfrm>
          <a:prstGeom prst="roundRect">
            <a:avLst/>
          </a:prstGeom>
          <a:solidFill>
            <a:srgbClr val="F6F4EF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10528" y="3794760"/>
            <a:ext cx="4096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(choice)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6007608" y="4169664"/>
            <a:ext cx="0" cy="283464"/>
          </a:xfrm>
          <a:prstGeom prst="line">
            <a:avLst/>
          </a:prstGeom>
          <a:noFill/>
          <a:ln w="22860">
            <a:solidFill>
              <a:srgbClr val="D9D4C9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5797296" y="4498848"/>
            <a:ext cx="420624" cy="420624"/>
          </a:xfrm>
          <a:prstGeom prst="ellipse">
            <a:avLst/>
          </a:prstGeom>
          <a:solidFill>
            <a:srgbClr val="A74F3D"/>
          </a:solidFill>
          <a:ln w="12700">
            <a:solidFill>
              <a:srgbClr val="A74F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97296" y="4572000"/>
            <a:ext cx="4206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364224" y="46085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126"/>
                </a:solidFill>
              </a:rPr>
              <a:t>IF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388352" y="4567428"/>
            <a:ext cx="3611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76"/>
                </a:solidFill>
              </a:rPr>
              <a:t>Check whether a parking slot is empty or occupied.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355080" y="4882896"/>
            <a:ext cx="4434840" cy="384048"/>
          </a:xfrm>
          <a:prstGeom prst="roundRect">
            <a:avLst/>
          </a:prstGeom>
          <a:solidFill>
            <a:srgbClr val="F6F4EF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10528" y="4965192"/>
            <a:ext cx="4096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A74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(parking[i][j] == null)</a:t>
            </a:r>
            <a:endParaRPr lang="en-US" sz="1220" dirty="0"/>
          </a:p>
        </p:txBody>
      </p:sp>
      <p:sp>
        <p:nvSpPr>
          <p:cNvPr id="28" name="Shape 25"/>
          <p:cNvSpPr/>
          <p:nvPr/>
        </p:nvSpPr>
        <p:spPr>
          <a:xfrm>
            <a:off x="5824728" y="5504688"/>
            <a:ext cx="3858768" cy="310896"/>
          </a:xfrm>
          <a:prstGeom prst="roundRect">
            <a:avLst/>
          </a:prstGeom>
          <a:solidFill>
            <a:srgbClr val="192126"/>
          </a:solidFill>
          <a:ln w="12700">
            <a:solidFill>
              <a:srgbClr val="19212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97880" y="5559552"/>
            <a:ext cx="3712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do…while · NO advanced control constructs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438912" y="623620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 is visible every time the menu repeats and the program decides what should happen next.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39624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A76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108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A74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CO3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38912" y="585216"/>
            <a:ext cx="8961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 + Methods: Modelling Floors and Slots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1051560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2D array represents the garage; methods keep each parking action separate and readable.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444752"/>
            <a:ext cx="6720840" cy="4544568"/>
          </a:xfrm>
          <a:prstGeom prst="roundRect">
            <a:avLst>
              <a:gd name="adj" fmla="val 2414"/>
            </a:avLst>
          </a:prstGeom>
          <a:solidFill>
            <a:srgbClr val="FFFDFC"/>
          </a:solidFill>
          <a:ln w="12700">
            <a:solidFill>
              <a:srgbClr val="D9D4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7190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D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String[][] parking = new String[3][5];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22376" y="20848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176"/>
                </a:solidFill>
              </a:rPr>
              <a:t>Rows = floors  ·  Columns = slots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27614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52126"/>
                </a:solidFill>
              </a:rPr>
              <a:t>F1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261872" y="2578608"/>
            <a:ext cx="841248" cy="658368"/>
          </a:xfrm>
          <a:prstGeom prst="roundRect">
            <a:avLst/>
          </a:prstGeom>
          <a:solidFill>
            <a:srgbClr val="D8EAE4"/>
          </a:solidFill>
          <a:ln w="12700">
            <a:solidFill>
              <a:srgbClr val="1F5D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7592" y="272491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126"/>
                </a:solidFill>
              </a:rPr>
              <a:t>TS09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52126"/>
                </a:solidFill>
              </a:rPr>
              <a:t>AB1234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240280" y="2578608"/>
            <a:ext cx="841248" cy="658368"/>
          </a:xfrm>
          <a:prstGeom prst="roundRect">
            <a:avLst/>
          </a:prstGeom>
          <a:solidFill>
            <a:srgbClr val="F2DEC7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272491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126"/>
                </a:solidFill>
              </a:rPr>
              <a:t>AP28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52126"/>
                </a:solidFill>
              </a:rPr>
              <a:t>EF9012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18688" y="2578608"/>
            <a:ext cx="841248" cy="658368"/>
          </a:xfrm>
          <a:prstGeom prst="roundRect">
            <a:avLst/>
          </a:prstGeom>
          <a:solidFill>
            <a:srgbClr val="EDF1EF"/>
          </a:solidFill>
          <a:ln w="12700">
            <a:solidFill>
              <a:srgbClr val="D8DF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272491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2908A"/>
                </a:solidFill>
              </a:rPr>
              <a:t>FREE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97096" y="2578608"/>
            <a:ext cx="841248" cy="658368"/>
          </a:xfrm>
          <a:prstGeom prst="roundRect">
            <a:avLst/>
          </a:prstGeom>
          <a:solidFill>
            <a:srgbClr val="EDF1EF"/>
          </a:solidFill>
          <a:ln w="12700">
            <a:solidFill>
              <a:srgbClr val="D8DF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42816" y="272491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2908A"/>
                </a:solidFill>
              </a:rPr>
              <a:t>FREE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75504" y="2578608"/>
            <a:ext cx="841248" cy="658368"/>
          </a:xfrm>
          <a:prstGeom prst="roundRect">
            <a:avLst/>
          </a:prstGeom>
          <a:solidFill>
            <a:srgbClr val="EDF1EF"/>
          </a:solidFill>
          <a:ln w="12700">
            <a:solidFill>
              <a:srgbClr val="D8DF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21224" y="272491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2908A"/>
                </a:solidFill>
              </a:rPr>
              <a:t>FREE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" y="358444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52126"/>
                </a:solidFill>
              </a:rPr>
              <a:t>F2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61872" y="3401568"/>
            <a:ext cx="841248" cy="658368"/>
          </a:xfrm>
          <a:prstGeom prst="roundRect">
            <a:avLst/>
          </a:prstGeom>
          <a:solidFill>
            <a:srgbClr val="EDF1EF"/>
          </a:solidFill>
          <a:ln w="12700">
            <a:solidFill>
              <a:srgbClr val="D8DFD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307592" y="354787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2908A"/>
                </a:solidFill>
              </a:rPr>
              <a:t>FREE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240280" y="3401568"/>
            <a:ext cx="841248" cy="658368"/>
          </a:xfrm>
          <a:prstGeom prst="roundRect">
            <a:avLst/>
          </a:prstGeom>
          <a:solidFill>
            <a:srgbClr val="EDF1EF"/>
          </a:solidFill>
          <a:ln w="12700">
            <a:solidFill>
              <a:srgbClr val="D8DFD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286000" y="354787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2908A"/>
                </a:solidFill>
              </a:rPr>
              <a:t>FREE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18688" y="3401568"/>
            <a:ext cx="841248" cy="658368"/>
          </a:xfrm>
          <a:prstGeom prst="roundRect">
            <a:avLst/>
          </a:prstGeom>
          <a:solidFill>
            <a:srgbClr val="EDF1EF"/>
          </a:solidFill>
          <a:ln w="12700">
            <a:solidFill>
              <a:srgbClr val="D8DFD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264408" y="354787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2908A"/>
                </a:solidFill>
              </a:rPr>
              <a:t>FREE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197096" y="3401568"/>
            <a:ext cx="841248" cy="658368"/>
          </a:xfrm>
          <a:prstGeom prst="roundRect">
            <a:avLst/>
          </a:prstGeom>
          <a:solidFill>
            <a:srgbClr val="EDF1EF"/>
          </a:solidFill>
          <a:ln w="12700">
            <a:solidFill>
              <a:srgbClr val="D8DFD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242816" y="354787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2908A"/>
                </a:solidFill>
              </a:rPr>
              <a:t>FREE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175504" y="3401568"/>
            <a:ext cx="841248" cy="658368"/>
          </a:xfrm>
          <a:prstGeom prst="roundRect">
            <a:avLst/>
          </a:prstGeom>
          <a:solidFill>
            <a:srgbClr val="EDF1EF"/>
          </a:solidFill>
          <a:ln w="12700">
            <a:solidFill>
              <a:srgbClr val="D8DFD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221224" y="354787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2908A"/>
                </a:solidFill>
              </a:rPr>
              <a:t>FREE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13232" y="44074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52126"/>
                </a:solidFill>
              </a:rPr>
              <a:t>F3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261872" y="4224528"/>
            <a:ext cx="841248" cy="658368"/>
          </a:xfrm>
          <a:prstGeom prst="roundRect">
            <a:avLst/>
          </a:prstGeom>
          <a:solidFill>
            <a:srgbClr val="EDF1EF"/>
          </a:solidFill>
          <a:ln w="12700">
            <a:solidFill>
              <a:srgbClr val="D8DF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07592" y="437083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2908A"/>
                </a:solidFill>
              </a:rPr>
              <a:t>FREE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240280" y="4224528"/>
            <a:ext cx="841248" cy="658368"/>
          </a:xfrm>
          <a:prstGeom prst="roundRect">
            <a:avLst/>
          </a:prstGeom>
          <a:solidFill>
            <a:srgbClr val="EDF1EF"/>
          </a:solidFill>
          <a:ln w="12700">
            <a:solidFill>
              <a:srgbClr val="D8DF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437083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2908A"/>
                </a:solidFill>
              </a:rPr>
              <a:t>FREE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18688" y="4224528"/>
            <a:ext cx="841248" cy="658368"/>
          </a:xfrm>
          <a:prstGeom prst="roundRect">
            <a:avLst/>
          </a:prstGeom>
          <a:solidFill>
            <a:srgbClr val="EDF1EF"/>
          </a:solidFill>
          <a:ln w="12700">
            <a:solidFill>
              <a:srgbClr val="D8DF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64408" y="437083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2908A"/>
                </a:solidFill>
              </a:rPr>
              <a:t>FREE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197096" y="4224528"/>
            <a:ext cx="841248" cy="658368"/>
          </a:xfrm>
          <a:prstGeom prst="roundRect">
            <a:avLst/>
          </a:prstGeom>
          <a:solidFill>
            <a:srgbClr val="EDF1EF"/>
          </a:solidFill>
          <a:ln w="12700">
            <a:solidFill>
              <a:srgbClr val="D8DF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42816" y="437083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2908A"/>
                </a:solidFill>
              </a:rPr>
              <a:t>FREE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175504" y="4224528"/>
            <a:ext cx="841248" cy="658368"/>
          </a:xfrm>
          <a:prstGeom prst="roundRect">
            <a:avLst/>
          </a:prstGeom>
          <a:solidFill>
            <a:srgbClr val="EDF1EF"/>
          </a:solidFill>
          <a:ln w="12700">
            <a:solidFill>
              <a:srgbClr val="D8DF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21224" y="437083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2908A"/>
                </a:solidFill>
              </a:rPr>
              <a:t>FREE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243584" y="5239512"/>
            <a:ext cx="2286000" cy="310896"/>
          </a:xfrm>
          <a:prstGeom prst="roundRect">
            <a:avLst/>
          </a:prstGeom>
          <a:solidFill>
            <a:srgbClr val="1F5D50"/>
          </a:solidFill>
          <a:ln w="12700">
            <a:solidFill>
              <a:srgbClr val="1F5D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16736" y="5294376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FREE SLOT → F1 / S3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406640" y="1444752"/>
            <a:ext cx="4343400" cy="4544568"/>
          </a:xfrm>
          <a:prstGeom prst="roundRect">
            <a:avLst>
              <a:gd name="adj" fmla="val 2526"/>
            </a:avLst>
          </a:prstGeom>
          <a:solidFill>
            <a:srgbClr val="EEF3F0"/>
          </a:solidFill>
          <a:ln w="12700">
            <a:solidFill>
              <a:srgbClr val="D8E6D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08392" y="1746504"/>
            <a:ext cx="2926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126"/>
                </a:solidFill>
              </a:rPr>
              <a:t>Methods used in the project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7699248" y="2359152"/>
            <a:ext cx="347472" cy="347472"/>
          </a:xfrm>
          <a:prstGeom prst="ellipse">
            <a:avLst/>
          </a:prstGeom>
          <a:solidFill>
            <a:srgbClr val="1F5D50"/>
          </a:solidFill>
          <a:ln w="12700">
            <a:solidFill>
              <a:srgbClr val="1F5D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99248" y="2432304"/>
            <a:ext cx="347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183880" y="2359152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parkVehicle()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9857232" y="234086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176"/>
                </a:solidFill>
              </a:rPr>
              <a:t>find a free slot + assign plate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7699248" y="3163824"/>
            <a:ext cx="347472" cy="347472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99248" y="3236976"/>
            <a:ext cx="347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183880" y="3163824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removeVehicle()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9857232" y="314553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176"/>
                </a:solidFill>
              </a:rPr>
              <a:t>clear the matching slot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7699248" y="3968496"/>
            <a:ext cx="347472" cy="347472"/>
          </a:xfrm>
          <a:prstGeom prst="ellipse">
            <a:avLst/>
          </a:prstGeom>
          <a:solidFill>
            <a:srgbClr val="1F5D50"/>
          </a:solidFill>
          <a:ln w="12700">
            <a:solidFill>
              <a:srgbClr val="1F5D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99248" y="4041648"/>
            <a:ext cx="347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8183880" y="3968496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searchVehicle()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9857232" y="395020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176"/>
                </a:solidFill>
              </a:rPr>
              <a:t>locate plate across all floors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7699248" y="4773168"/>
            <a:ext cx="347472" cy="347472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699248" y="4846320"/>
            <a:ext cx="347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8183880" y="4773168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showParking()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9857232" y="47548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176"/>
                </a:solidFill>
              </a:rPr>
              <a:t>display every floor and slot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7699248" y="5394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5D50"/>
                </a:solidFill>
              </a:rPr>
              <a:t>CO3 makes the program modular without making it complicated.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438912" y="623620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2D array is the main model of the parking structure in the current code.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39624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A76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108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A74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CO4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38912" y="585216"/>
            <a:ext cx="8961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and Objects: One Vehicle Class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1051560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one simple class is used here—enough to represent a vehicle cleanly without overcomplicating the project.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481328"/>
            <a:ext cx="3886200" cy="4462272"/>
          </a:xfrm>
          <a:prstGeom prst="roundRect">
            <a:avLst>
              <a:gd name="adj" fmla="val 2824"/>
            </a:avLst>
          </a:prstGeom>
          <a:solidFill>
            <a:srgbClr val="F1E2DE"/>
          </a:solidFill>
          <a:ln w="12700">
            <a:solidFill>
              <a:srgbClr val="E4C9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8105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4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Vehicle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68096" y="2258568"/>
            <a:ext cx="3246120" cy="0"/>
          </a:xfrm>
          <a:prstGeom prst="line">
            <a:avLst/>
          </a:prstGeom>
          <a:noFill/>
          <a:ln w="15240">
            <a:solidFill>
              <a:srgbClr val="D9B9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4963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67176"/>
                </a:solidFill>
              </a:rPr>
              <a:t>DATA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68096" y="27980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plate;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8096" y="331012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67176"/>
                </a:solidFill>
              </a:rPr>
              <a:t>CONSTRUCTOR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68096" y="3584448"/>
            <a:ext cx="3163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5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Vehicle(String plate)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5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this.plate = plate.toUpperCase(); 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8096" y="5029200"/>
            <a:ext cx="2011680" cy="310896"/>
          </a:xfrm>
          <a:prstGeom prst="roundRect">
            <a:avLst/>
          </a:prstGeom>
          <a:solidFill>
            <a:srgbClr val="A74F3D"/>
          </a:solidFill>
          <a:ln w="12700">
            <a:solidFill>
              <a:srgbClr val="A74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508406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CO4: CLASS + OBJECT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17720" y="1481328"/>
            <a:ext cx="7132320" cy="4462272"/>
          </a:xfrm>
          <a:prstGeom prst="roundRect">
            <a:avLst>
              <a:gd name="adj" fmla="val 2459"/>
            </a:avLst>
          </a:prstGeom>
          <a:solidFill>
            <a:srgbClr val="FFFDFC"/>
          </a:solidFill>
          <a:ln w="12700">
            <a:solidFill>
              <a:srgbClr val="D9D4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1810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126"/>
                </a:solidFill>
              </a:rPr>
              <a:t>How the object is used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956048" y="2423160"/>
            <a:ext cx="1847088" cy="1234440"/>
          </a:xfrm>
          <a:prstGeom prst="roundRect">
            <a:avLst>
              <a:gd name="adj" fmla="val 8889"/>
            </a:avLst>
          </a:prstGeom>
          <a:solidFill>
            <a:srgbClr val="FFF7F3"/>
          </a:solidFill>
          <a:ln w="12700">
            <a:solidFill>
              <a:srgbClr val="E8C9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9512" y="266090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4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 v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2352" y="30723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126"/>
                </a:solidFill>
              </a:rPr>
              <a:t>TS09AB1234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39712" y="3044952"/>
            <a:ext cx="731520" cy="0"/>
          </a:xfrm>
          <a:prstGeom prst="line">
            <a:avLst/>
          </a:prstGeom>
          <a:noFill/>
          <a:ln w="30480">
            <a:solidFill>
              <a:srgbClr val="D99A2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35240" y="2423160"/>
            <a:ext cx="1755648" cy="1234440"/>
          </a:xfrm>
          <a:prstGeom prst="roundRect">
            <a:avLst>
              <a:gd name="adj" fmla="val 8889"/>
            </a:avLst>
          </a:prstGeom>
          <a:solidFill>
            <a:srgbClr val="F6EACB"/>
          </a:solidFill>
          <a:ln w="12700">
            <a:solidFill>
              <a:srgbClr val="E6D7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27706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parkVehicle(v)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418320" y="3044952"/>
            <a:ext cx="658368" cy="0"/>
          </a:xfrm>
          <a:prstGeom prst="line">
            <a:avLst/>
          </a:prstGeom>
          <a:noFill/>
          <a:ln w="30480">
            <a:solidFill>
              <a:srgbClr val="D99A2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149840" y="2423160"/>
            <a:ext cx="1216152" cy="1234440"/>
          </a:xfrm>
          <a:prstGeom prst="roundRect">
            <a:avLst>
              <a:gd name="adj" fmla="val 9023"/>
            </a:avLst>
          </a:prstGeom>
          <a:solidFill>
            <a:srgbClr val="E4EFEA"/>
          </a:solidFill>
          <a:ln w="12700">
            <a:solidFill>
              <a:srgbClr val="C7DC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51008" y="2679192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D50"/>
                </a:solidFill>
              </a:rPr>
              <a:t>F1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5D50"/>
                </a:solidFill>
              </a:rPr>
              <a:t>S1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956048" y="4160520"/>
            <a:ext cx="5989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52126"/>
                </a:solidFill>
              </a:rPr>
              <a:t>A class groups the vehicle number into one object. The rest of the parking system simply passes that object to the parking method.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56048" y="513892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5D50"/>
                </a:solidFill>
              </a:rPr>
              <a:t>Simple enough to explain in viva; directly present in your syllabus.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38912" y="623620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inheritance, interfaces or advanced object hierarchy are forced into this project.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39624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A76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108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A74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CO5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38912" y="585216"/>
            <a:ext cx="8961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Handling: Saving a Parking Entry Log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1051560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FileWriter is used for one clear purpose: append the parked vehicle, floor and slot to a text file.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481328"/>
            <a:ext cx="5897880" cy="4462272"/>
          </a:xfrm>
          <a:prstGeom prst="roundRect">
            <a:avLst>
              <a:gd name="adj" fmla="val 2459"/>
            </a:avLst>
          </a:prstGeom>
          <a:solidFill>
            <a:srgbClr val="FFFDFC"/>
          </a:solidFill>
          <a:ln w="12700">
            <a:solidFill>
              <a:srgbClr val="D9D4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126"/>
                </a:solidFill>
              </a:rPr>
              <a:t>When a vehicle is parked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86384" y="2468880"/>
            <a:ext cx="1417320" cy="932688"/>
          </a:xfrm>
          <a:prstGeom prst="roundRect">
            <a:avLst>
              <a:gd name="adj" fmla="val 11765"/>
            </a:avLst>
          </a:prstGeom>
          <a:solidFill>
            <a:srgbClr val="E4EFEA"/>
          </a:solidFill>
          <a:ln w="12700">
            <a:solidFill>
              <a:srgbClr val="1F5D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770632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parkVehicle()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49424" y="2926080"/>
            <a:ext cx="365760" cy="0"/>
          </a:xfrm>
          <a:prstGeom prst="line">
            <a:avLst/>
          </a:prstGeom>
          <a:noFill/>
          <a:ln w="26670">
            <a:solidFill>
              <a:srgbClr val="D99A2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06624" y="2468880"/>
            <a:ext cx="1417320" cy="932688"/>
          </a:xfrm>
          <a:prstGeom prst="roundRect">
            <a:avLst>
              <a:gd name="adj" fmla="val 11765"/>
            </a:avLst>
          </a:prstGeom>
          <a:solidFill>
            <a:srgbClr val="F6EAC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9776" y="2770632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saveRecord()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69664" y="2926080"/>
            <a:ext cx="365760" cy="0"/>
          </a:xfrm>
          <a:prstGeom prst="line">
            <a:avLst/>
          </a:prstGeom>
          <a:noFill/>
          <a:ln w="26670">
            <a:solidFill>
              <a:srgbClr val="D99A2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17720" y="2468880"/>
            <a:ext cx="1417320" cy="932688"/>
          </a:xfrm>
          <a:prstGeom prst="roundRect">
            <a:avLst>
              <a:gd name="adj" fmla="val 11765"/>
            </a:avLst>
          </a:prstGeom>
          <a:solidFill>
            <a:srgbClr val="F1E2DE"/>
          </a:solidFill>
          <a:ln w="12700">
            <a:solidFill>
              <a:srgbClr val="A74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7706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parking_records.txt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68096" y="3822192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D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FileWriter("parking_records.txt", true)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8096" y="4224528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52126"/>
                </a:solidFill>
              </a:rPr>
              <a:t>true = append mode → new records are added at the end instead of deleting old log entries.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8096" y="5212080"/>
            <a:ext cx="1874520" cy="310896"/>
          </a:xfrm>
          <a:prstGeom prst="roundRect">
            <a:avLst/>
          </a:prstGeom>
          <a:solidFill>
            <a:srgbClr val="A74F3D"/>
          </a:solidFill>
          <a:ln w="12700">
            <a:solidFill>
              <a:srgbClr val="A74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5266944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CO5 · FILE WRITING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20256" y="1481328"/>
            <a:ext cx="5129784" cy="2999232"/>
          </a:xfrm>
          <a:prstGeom prst="roundRect">
            <a:avLst>
              <a:gd name="adj" fmla="val 3500"/>
            </a:avLst>
          </a:prstGeom>
          <a:solidFill>
            <a:srgbClr val="F7F5F0"/>
          </a:solidFill>
          <a:ln w="12700">
            <a:solidFill>
              <a:srgbClr val="DDD7CC"/>
            </a:solidFill>
            <a:prstDash val="solid"/>
          </a:ln>
        </p:spPr>
      </p:sp>
      <p:pic>
        <p:nvPicPr>
          <p:cNvPr id="20" name="Image 0" descr="/mnt/data/enhanced_assets/records_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5976" y="1798476"/>
            <a:ext cx="5038344" cy="2364937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620256" y="4590288"/>
            <a:ext cx="5129784" cy="1353312"/>
          </a:xfrm>
          <a:prstGeom prst="roundRect">
            <a:avLst>
              <a:gd name="adj" fmla="val 8108"/>
            </a:avLst>
          </a:prstGeom>
          <a:solidFill>
            <a:srgbClr val="FFF7E7"/>
          </a:solidFill>
          <a:ln w="12700">
            <a:solidFill>
              <a:srgbClr val="E8D8A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94576" y="4828032"/>
            <a:ext cx="44439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52126"/>
                </a:solidFill>
              </a:rPr>
              <a:t>Important: the current simple version saves a log only.</a:t>
            </a:r>
            <a:endParaRPr lang="en-US" sz="1330" dirty="0"/>
          </a:p>
        </p:txBody>
      </p:sp>
      <p:sp>
        <p:nvSpPr>
          <p:cNvPr id="23" name="Text 20"/>
          <p:cNvSpPr/>
          <p:nvPr/>
        </p:nvSpPr>
        <p:spPr>
          <a:xfrm>
            <a:off x="6894576" y="5212080"/>
            <a:ext cx="4443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176"/>
                </a:solidFill>
              </a:rPr>
              <a:t>It does NOT read the file back to restore parked vehicles after restarting. File reading can be added later as future scope.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38912" y="623620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intentionally kept simple: one FileWriter method demonstrates file handling without making the code much larger.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39624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A76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108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A74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CO6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38912" y="585216"/>
            <a:ext cx="8961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Collections: A Simple ArrayList Use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1051560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2D array remains the parking layout; ArrayList is used only for the current list of parked vehicle numbers.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481328"/>
            <a:ext cx="4846320" cy="4462272"/>
          </a:xfrm>
          <a:prstGeom prst="roundRect">
            <a:avLst>
              <a:gd name="adj" fmla="val 2459"/>
            </a:avLst>
          </a:prstGeom>
          <a:solidFill>
            <a:srgbClr val="EAF2EF"/>
          </a:solidFill>
          <a:ln w="12700">
            <a:solidFill>
              <a:srgbClr val="D8E6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7922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D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ArrayList&lt;String&gt; vehicles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" y="2450592"/>
            <a:ext cx="2267712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587752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TS09AB1234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" y="3090672"/>
            <a:ext cx="2267712" cy="493776"/>
          </a:xfrm>
          <a:prstGeom prst="roundRect">
            <a:avLst/>
          </a:prstGeom>
          <a:solidFill>
            <a:srgbClr val="F6EAC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3227832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AP28EF9012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" y="3730752"/>
            <a:ext cx="2267712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3867912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TS10CD5678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01568" y="24688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126"/>
                </a:solidFill>
              </a:rPr>
              <a:t>On park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01568" y="2752344"/>
            <a:ext cx="1554480" cy="310896"/>
          </a:xfrm>
          <a:prstGeom prst="roundRect">
            <a:avLst/>
          </a:prstGeom>
          <a:solidFill>
            <a:srgbClr val="1F5D50"/>
          </a:solidFill>
          <a:ln w="12700">
            <a:solidFill>
              <a:srgbClr val="1F5D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807208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vehicles.add()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01568" y="34015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126"/>
                </a:solidFill>
              </a:rPr>
              <a:t>On remove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401568" y="3685032"/>
            <a:ext cx="1554480" cy="310896"/>
          </a:xfrm>
          <a:prstGeom prst="roundRect">
            <a:avLst/>
          </a:prstGeom>
          <a:solidFill>
            <a:srgbClr val="A74F3D"/>
          </a:solidFill>
          <a:ln w="12700">
            <a:solidFill>
              <a:srgbClr val="A74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3739896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vehicles.remove()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4672" y="4873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D50"/>
                </a:solidFill>
              </a:rPr>
              <a:t>Menu option 5 prints the list directly.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559552" y="1481328"/>
            <a:ext cx="6190488" cy="3401568"/>
          </a:xfrm>
          <a:prstGeom prst="roundRect">
            <a:avLst>
              <a:gd name="adj" fmla="val 5376"/>
            </a:avLst>
          </a:prstGeom>
          <a:solidFill>
            <a:srgbClr val="12171B"/>
          </a:solidFill>
          <a:ln w="12700">
            <a:solidFill>
              <a:srgbClr val="2D363B"/>
            </a:solidFill>
            <a:prstDash val="solid"/>
          </a:ln>
        </p:spPr>
      </p:sp>
      <p:pic>
        <p:nvPicPr>
          <p:cNvPr id="21" name="Image 0" descr="/mnt/data/enhanced_assets/console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272" y="1990025"/>
            <a:ext cx="6099048" cy="2384173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5559552" y="5029200"/>
            <a:ext cx="6190488" cy="914400"/>
          </a:xfrm>
          <a:prstGeom prst="roundRect">
            <a:avLst>
              <a:gd name="adj" fmla="val 12000"/>
            </a:avLst>
          </a:prstGeom>
          <a:solidFill>
            <a:srgbClr val="FFFDFC"/>
          </a:solidFill>
          <a:ln w="12700">
            <a:solidFill>
              <a:srgbClr val="D9D4C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52160" y="5276088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126"/>
                </a:solidFill>
              </a:rPr>
              <a:t>Why use it here?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296912" y="5230368"/>
            <a:ext cx="4041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176"/>
                </a:solidFill>
              </a:rPr>
              <a:t>It gives one convenient list of currently parked plates without changing the main 3 × 5 array model.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38912" y="623620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CO6 is demonstrated with one basic collection—ArrayList—rather than streams or advanced functional programming.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39624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A76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108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A74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OUTCOME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38912" y="585216"/>
            <a:ext cx="8961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+ Future Scope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1051560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version is intentionally small, but its core logic can grow into a real smart-parking application.</a:t>
            </a:r>
            <a:endParaRPr lang="en-US" sz="1300" dirty="0"/>
          </a:p>
        </p:txBody>
      </p:sp>
      <p:pic>
        <p:nvPicPr>
          <p:cNvPr id="5" name="Image 0" descr="/mnt/data/a_crisp_realistic_high_resolution_photograph_of.png">    </p:cNvPr>
          <p:cNvPicPr>
            <a:picLocks noChangeAspect="1"/>
          </p:cNvPicPr>
          <p:nvPr/>
        </p:nvPicPr>
        <p:blipFill>
          <a:blip r:embed="rId1"/>
          <a:srcRect l="14966" r="14966" t="0" b="0"/>
          <a:stretch/>
        </p:blipFill>
        <p:spPr>
          <a:xfrm>
            <a:off x="438912" y="1444752"/>
            <a:ext cx="5669280" cy="45537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64224" y="1444752"/>
            <a:ext cx="5385816" cy="2249424"/>
          </a:xfrm>
          <a:prstGeom prst="roundRect">
            <a:avLst>
              <a:gd name="adj" fmla="val 4545"/>
            </a:avLst>
          </a:prstGeom>
          <a:solidFill>
            <a:srgbClr val="FFFDFC"/>
          </a:solidFill>
          <a:ln w="12700">
            <a:solidFill>
              <a:srgbClr val="D9D4C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75120" y="16642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F5D50"/>
                </a:solidFill>
              </a:rPr>
              <a:t>WHAT WORKS NOW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656832" y="2011680"/>
            <a:ext cx="310896" cy="310896"/>
          </a:xfrm>
          <a:prstGeom prst="ellipse">
            <a:avLst/>
          </a:prstGeom>
          <a:solidFill>
            <a:srgbClr val="1F5D50"/>
          </a:solidFill>
          <a:ln w="12700">
            <a:solidFill>
              <a:srgbClr val="1F5D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56832" y="2084832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077456" y="204825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126"/>
                </a:solidFill>
              </a:rPr>
              <a:t>3 floors × 5 slots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56832" y="2395728"/>
            <a:ext cx="310896" cy="310896"/>
          </a:xfrm>
          <a:prstGeom prst="ellipse">
            <a:avLst/>
          </a:prstGeom>
          <a:solidFill>
            <a:srgbClr val="1F5D50"/>
          </a:solidFill>
          <a:ln w="12700">
            <a:solidFill>
              <a:srgbClr val="1F5D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56832" y="2468880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077456" y="243230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126"/>
                </a:solidFill>
              </a:rPr>
              <a:t>First-free-slot allocation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56832" y="2779776"/>
            <a:ext cx="310896" cy="310896"/>
          </a:xfrm>
          <a:prstGeom prst="ellipse">
            <a:avLst/>
          </a:prstGeom>
          <a:solidFill>
            <a:srgbClr val="1F5D50"/>
          </a:solidFill>
          <a:ln w="12700">
            <a:solidFill>
              <a:srgbClr val="1F5D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56832" y="2852928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077456" y="281635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126"/>
                </a:solidFill>
              </a:rPr>
              <a:t>Search + remove + view status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656832" y="3163824"/>
            <a:ext cx="310896" cy="310896"/>
          </a:xfrm>
          <a:prstGeom prst="ellipse">
            <a:avLst/>
          </a:prstGeom>
          <a:solidFill>
            <a:srgbClr val="1F5D50"/>
          </a:solidFill>
          <a:ln w="12700">
            <a:solidFill>
              <a:srgbClr val="1F5D5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56832" y="3236976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077456" y="320040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126"/>
                </a:solidFill>
              </a:rPr>
              <a:t>Text-file entry log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364224" y="3877056"/>
            <a:ext cx="5385816" cy="2121408"/>
          </a:xfrm>
          <a:prstGeom prst="roundRect">
            <a:avLst>
              <a:gd name="adj" fmla="val 5607"/>
            </a:avLst>
          </a:prstGeom>
          <a:solidFill>
            <a:srgbClr val="FFF8E8"/>
          </a:solidFill>
          <a:ln w="12700">
            <a:solidFill>
              <a:srgbClr val="E8D8A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75120" y="41148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A74F3D"/>
                </a:solidFill>
              </a:rPr>
              <a:t>FUTURE SCOPE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656832" y="4462272"/>
            <a:ext cx="292608" cy="292608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56832" y="4535424"/>
            <a:ext cx="2926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059168" y="44897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126"/>
                </a:solidFill>
              </a:rPr>
              <a:t>Read saved state on startup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656832" y="4809744"/>
            <a:ext cx="292608" cy="292608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656832" y="4882896"/>
            <a:ext cx="2926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059168" y="48371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126"/>
                </a:solidFill>
              </a:rPr>
              <a:t>GUI / dashboard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656832" y="5157216"/>
            <a:ext cx="292608" cy="292608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56832" y="5230368"/>
            <a:ext cx="2926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7059168" y="51846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126"/>
                </a:solidFill>
              </a:rPr>
              <a:t>QR or RFID + live sensors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656832" y="5504688"/>
            <a:ext cx="292608" cy="292608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656832" y="5577840"/>
            <a:ext cx="2926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7059168" y="55321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126"/>
                </a:solidFill>
              </a:rPr>
              <a:t>Fee calculation + slot booking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713232" y="5349240"/>
            <a:ext cx="4572000" cy="310896"/>
          </a:xfrm>
          <a:prstGeom prst="roundRect">
            <a:avLst/>
          </a:prstGeom>
          <a:solidFill>
            <a:srgbClr val="192126"/>
          </a:solidFill>
          <a:ln w="12700">
            <a:solidFill>
              <a:srgbClr val="19212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86384" y="5404104"/>
            <a:ext cx="4425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STUDENT-SCALE PROTOTYPE → REAL SMART PARKING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438912" y="623620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important result is a clear, testable parking-management model that can be extended step by step.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39624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A76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108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A74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DEMONSTRATION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38912" y="585216"/>
            <a:ext cx="8961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Shots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1051560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console output captured from the current simplified Java program.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536192"/>
            <a:ext cx="3611880" cy="4462272"/>
          </a:xfrm>
          <a:prstGeom prst="roundRect">
            <a:avLst>
              <a:gd name="adj" fmla="val 3158"/>
            </a:avLst>
          </a:prstGeom>
          <a:solidFill>
            <a:srgbClr val="FFFDFC"/>
          </a:solidFill>
          <a:ln w="12700">
            <a:solidFill>
              <a:srgbClr val="D9D4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3" y="1737360"/>
            <a:ext cx="3282696" cy="2103120"/>
          </a:xfrm>
          <a:prstGeom prst="roundRect">
            <a:avLst>
              <a:gd name="adj" fmla="val 3500"/>
            </a:avLst>
          </a:prstGeom>
          <a:solidFill>
            <a:srgbClr val="12171B"/>
          </a:solidFill>
          <a:ln w="12700">
            <a:solidFill>
              <a:srgbClr val="2C3438"/>
            </a:solidFill>
            <a:prstDash val="solid"/>
          </a:ln>
        </p:spPr>
      </p:sp>
      <p:pic>
        <p:nvPicPr>
          <p:cNvPr id="7" name="Image 0" descr="/mnt/data/enhanced_assets/console_en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1" y="1929411"/>
            <a:ext cx="3154680" cy="1719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114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152126"/>
                </a:solidFill>
              </a:rPr>
              <a:t>1 · Vehicle Entry</a:t>
            </a:r>
            <a:endParaRPr lang="en-US" sz="1530" dirty="0"/>
          </a:p>
        </p:txBody>
      </p:sp>
      <p:sp>
        <p:nvSpPr>
          <p:cNvPr id="9" name="Text 6"/>
          <p:cNvSpPr/>
          <p:nvPr/>
        </p:nvSpPr>
        <p:spPr>
          <a:xfrm>
            <a:off x="640080" y="452628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76"/>
                </a:solidFill>
              </a:rPr>
              <a:t>First free slot is allocated.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5257800"/>
            <a:ext cx="1097280" cy="310896"/>
          </a:xfrm>
          <a:prstGeom prst="roundRect">
            <a:avLst/>
          </a:prstGeom>
          <a:solidFill>
            <a:srgbClr val="1F5D50"/>
          </a:solidFill>
          <a:ln w="12700">
            <a:solidFill>
              <a:srgbClr val="1F5D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5312664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88536" y="1536192"/>
            <a:ext cx="3611880" cy="4462272"/>
          </a:xfrm>
          <a:prstGeom prst="roundRect">
            <a:avLst>
              <a:gd name="adj" fmla="val 3158"/>
            </a:avLst>
          </a:prstGeom>
          <a:solidFill>
            <a:srgbClr val="FFFDFC"/>
          </a:solidFill>
          <a:ln w="12700">
            <a:solidFill>
              <a:srgbClr val="D9D4C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53128" y="1737360"/>
            <a:ext cx="3282696" cy="2103120"/>
          </a:xfrm>
          <a:prstGeom prst="roundRect">
            <a:avLst>
              <a:gd name="adj" fmla="val 3500"/>
            </a:avLst>
          </a:prstGeom>
          <a:solidFill>
            <a:srgbClr val="12171B"/>
          </a:solidFill>
          <a:ln w="12700">
            <a:solidFill>
              <a:srgbClr val="2C3438"/>
            </a:solidFill>
            <a:prstDash val="solid"/>
          </a:ln>
        </p:spPr>
      </p:sp>
      <p:pic>
        <p:nvPicPr>
          <p:cNvPr id="14" name="Image 1" descr="/mnt/data/enhanced_assets/console_stat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136" y="2000250"/>
            <a:ext cx="3154680" cy="15773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89704" y="4114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152126"/>
                </a:solidFill>
              </a:rPr>
              <a:t>2 · Status + Search</a:t>
            </a:r>
            <a:endParaRPr lang="en-US" sz="1530" dirty="0"/>
          </a:p>
        </p:txBody>
      </p:sp>
      <p:sp>
        <p:nvSpPr>
          <p:cNvPr id="16" name="Text 12"/>
          <p:cNvSpPr/>
          <p:nvPr/>
        </p:nvSpPr>
        <p:spPr>
          <a:xfrm>
            <a:off x="4489704" y="452628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76"/>
                </a:solidFill>
              </a:rPr>
              <a:t>The vehicle is found by floor + slot.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489704" y="5257800"/>
            <a:ext cx="1280160" cy="310896"/>
          </a:xfrm>
          <a:prstGeom prst="round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62856" y="5312664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38160" y="1536192"/>
            <a:ext cx="3611880" cy="4462272"/>
          </a:xfrm>
          <a:prstGeom prst="roundRect">
            <a:avLst>
              <a:gd name="adj" fmla="val 3158"/>
            </a:avLst>
          </a:prstGeom>
          <a:solidFill>
            <a:srgbClr val="FFFDFC"/>
          </a:solidFill>
          <a:ln w="12700">
            <a:solidFill>
              <a:srgbClr val="D9D4C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302752" y="1737360"/>
            <a:ext cx="3282696" cy="2103120"/>
          </a:xfrm>
          <a:prstGeom prst="roundRect">
            <a:avLst>
              <a:gd name="adj" fmla="val 3500"/>
            </a:avLst>
          </a:prstGeom>
          <a:solidFill>
            <a:srgbClr val="12171B"/>
          </a:solidFill>
          <a:ln w="12700">
            <a:solidFill>
              <a:srgbClr val="2C3438"/>
            </a:solidFill>
            <a:prstDash val="solid"/>
          </a:ln>
        </p:spPr>
      </p:sp>
      <p:pic>
        <p:nvPicPr>
          <p:cNvPr id="21" name="Image 2" descr="/mnt/data/enhanced_assets/console_l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170262"/>
            <a:ext cx="3154680" cy="123731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39328" y="4114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152126"/>
                </a:solidFill>
              </a:rPr>
              <a:t>3 · Parked Vehicle List</a:t>
            </a:r>
            <a:endParaRPr lang="en-US" sz="1530" dirty="0"/>
          </a:p>
        </p:txBody>
      </p:sp>
      <p:sp>
        <p:nvSpPr>
          <p:cNvPr id="23" name="Text 18"/>
          <p:cNvSpPr/>
          <p:nvPr/>
        </p:nvSpPr>
        <p:spPr>
          <a:xfrm>
            <a:off x="8339328" y="452628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76"/>
                </a:solidFill>
              </a:rPr>
              <a:t>ArrayList shows the current vehicles.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8339328" y="5257800"/>
            <a:ext cx="1554480" cy="310896"/>
          </a:xfrm>
          <a:prstGeom prst="roundRect">
            <a:avLst/>
          </a:prstGeom>
          <a:solidFill>
            <a:srgbClr val="A74F3D"/>
          </a:solidFill>
          <a:ln w="12700">
            <a:solidFill>
              <a:srgbClr val="A74F3D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412480" y="5312664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ARRAYLIST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38912" y="623620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screenshots are from the same Java program used in the CO slides.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39624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A76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108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A74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SUBMISSION EVIDENCE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38912" y="585216"/>
            <a:ext cx="8961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Geo-tag Photo + GitHub Repository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1051560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submission evidence from the team and project repository.</a:t>
            </a:r>
            <a:endParaRPr lang="en-US" sz="1300" dirty="0"/>
          </a:p>
        </p:txBody>
      </p:sp>
      <p:pic>
        <p:nvPicPr>
          <p:cNvPr id="5" name="Image 0" descr="/mnt/data/extracted_slide12/image_13.png">    </p:cNvPr>
          <p:cNvPicPr>
            <a:picLocks noChangeAspect="1"/>
          </p:cNvPicPr>
          <p:nvPr/>
        </p:nvPicPr>
        <p:blipFill>
          <a:blip r:embed="rId1"/>
          <a:srcRect l="1220" r="1220" t="0" b="0"/>
          <a:stretch/>
        </p:blipFill>
        <p:spPr>
          <a:xfrm>
            <a:off x="438912" y="1481328"/>
            <a:ext cx="5852160" cy="44988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4944" y="1737360"/>
            <a:ext cx="2651760" cy="310896"/>
          </a:xfrm>
          <a:prstGeom prst="roundRect">
            <a:avLst/>
          </a:prstGeom>
          <a:solidFill>
            <a:srgbClr val="1F5D50"/>
          </a:solidFill>
          <a:ln w="12700">
            <a:solidFill>
              <a:srgbClr val="1F5D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1792224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GEO-TAGGED TEAM PHOTO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565392" y="1481328"/>
            <a:ext cx="5184648" cy="4498848"/>
          </a:xfrm>
          <a:prstGeom prst="roundRect">
            <a:avLst>
              <a:gd name="adj" fmla="val 2439"/>
            </a:avLst>
          </a:prstGeom>
          <a:solidFill>
            <a:srgbClr val="192126"/>
          </a:solidFill>
          <a:ln w="12700">
            <a:solidFill>
              <a:srgbClr val="1921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03720" y="181051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2C96D"/>
                </a:solidFill>
              </a:rPr>
              <a:t>GITHUB REPOSITORY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903720" y="215798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</a:rPr>
              <a:t>MultiLevelParkingSystem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6903720" y="26151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9E0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github.com/KDivya-Teja/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9E0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KLH_CSE_PSPJAVA_T16_MultiLevelParkingSystem</a:t>
            </a:r>
            <a:endParaRPr lang="en-US" sz="1000" dirty="0"/>
          </a:p>
        </p:txBody>
      </p:sp>
      <p:pic>
        <p:nvPicPr>
          <p:cNvPr id="12" name="Image 1" descr="/mnt/data/enhanced_assets/github_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148840"/>
            <a:ext cx="1097280" cy="10972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351008" y="32918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FC7C4"/>
                </a:solidFill>
              </a:rPr>
              <a:t>Scan to open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903720" y="3703320"/>
            <a:ext cx="4315968" cy="0"/>
          </a:xfrm>
          <a:prstGeom prst="line">
            <a:avLst/>
          </a:prstGeom>
          <a:noFill/>
          <a:ln w="12700">
            <a:solidFill>
              <a:srgbClr val="46525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903720" y="39319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2C96D"/>
                </a:solidFill>
              </a:rPr>
              <a:t>REPOSITORY CONTENTS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903720" y="4325112"/>
            <a:ext cx="256032" cy="25603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903720" y="4398264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7269480" y="4334256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ParkingSystem.java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903720" y="4681728"/>
            <a:ext cx="256032" cy="25603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903720" y="475488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7269480" y="4690872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parking_records.txt sample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903720" y="5038344"/>
            <a:ext cx="256032" cy="25603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903720" y="5111496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7269480" y="5047488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README / run instructions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6903720" y="541324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K. Divya Teja · 2620030005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Yogendra · 2620040044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438912" y="623620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URL preserved from your current submission slide.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39624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A766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KLH Bachupally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Multi-Level Parking System</dc:title>
  <dc:subject>Multi-Level Parking System - Project Based Learning</dc:subject>
  <dc:creator>K. Divya Teja &amp; Yogendra</dc:creator>
  <cp:lastModifiedBy>K. Divya Teja &amp; Yogendra</cp:lastModifiedBy>
  <cp:revision>1</cp:revision>
  <dcterms:created xsi:type="dcterms:W3CDTF">2026-10-15T21:02:47Z</dcterms:created>
  <dcterms:modified xsi:type="dcterms:W3CDTF">2026-10-15T21:02:47Z</dcterms:modified>
</cp:coreProperties>
</file>